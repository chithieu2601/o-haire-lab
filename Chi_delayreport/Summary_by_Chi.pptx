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32918400" cy="21945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0" y="3591562"/>
            <a:ext cx="2468880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5" y="5471162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5" y="14686282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0"/>
            <a:ext cx="28392120" cy="42418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28" y="5379722"/>
            <a:ext cx="13926025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28" y="8016240"/>
            <a:ext cx="13926025" cy="117906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0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0" y="8016240"/>
            <a:ext cx="13994608" cy="117906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0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0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0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0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994608" y="3159760"/>
            <a:ext cx="16664940" cy="15595600"/>
          </a:xfrm>
        </p:spPr>
        <p:txBody>
          <a:bodyPr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0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0" y="1168400"/>
            <a:ext cx="7098030" cy="1859788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0" y="1168400"/>
            <a:ext cx="20882610" cy="1859788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0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0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0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0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5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5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5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5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5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5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5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5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5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7280"/>
            <a:ext cx="32918400" cy="190587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8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What is The Effect of delay days in reaching out on getting more participation for the study arm?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37838" y="2065243"/>
            <a:ext cx="27642731" cy="60452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sz="3335" b="1" dirty="0">
                <a:latin typeface="Verdana" panose="020B0604030504040204" pitchFamily="34" charset="0"/>
                <a:ea typeface="Verdana" panose="020B0604030504040204" pitchFamily="34" charset="0"/>
              </a:rPr>
              <a:t> Chi Thieu </a:t>
            </a:r>
            <a:endParaRPr lang="en-US" sz="3335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41704" y="2638103"/>
            <a:ext cx="21634999" cy="420370"/>
          </a:xfrm>
          <a:prstGeom prst="rect">
            <a:avLst/>
          </a:prstGeom>
        </p:spPr>
        <p:txBody>
          <a:bodyPr wrap="square">
            <a:spAutoFit/>
          </a:bodyPr>
          <a:p>
            <a:pPr algn="ctr" fontAlgn="base"/>
            <a:r>
              <a:rPr lang="en-US" sz="2135" dirty="0">
                <a:latin typeface="Verdana" panose="020B0604030504040204" pitchFamily="34" charset="0"/>
                <a:ea typeface="Verdana" panose="020B0604030504040204" pitchFamily="34" charset="0"/>
              </a:rPr>
              <a:t>Organization for Human-Animal Interaction Research and Education, College of Veterinary Medicine, University of Arizona </a:t>
            </a:r>
            <a:r>
              <a:rPr lang="en-US" sz="2135" dirty="0"/>
              <a:t> </a:t>
            </a:r>
            <a:endParaRPr lang="en-US" sz="2135" dirty="0"/>
          </a:p>
        </p:txBody>
      </p:sp>
      <p:pic>
        <p:nvPicPr>
          <p:cNvPr id="49" name="Picture 48" descr="A black background with blue text&#10;&#10;Description automatically generated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950" y="2087342"/>
            <a:ext cx="4683163" cy="1015924"/>
          </a:xfrm>
          <a:prstGeom prst="rect">
            <a:avLst/>
          </a:prstGeom>
        </p:spPr>
      </p:pic>
      <p:sp>
        <p:nvSpPr>
          <p:cNvPr id="53" name="Text Box 189"/>
          <p:cNvSpPr txBox="1">
            <a:spLocks noChangeArrowheads="1"/>
          </p:cNvSpPr>
          <p:nvPr/>
        </p:nvSpPr>
        <p:spPr bwMode="auto">
          <a:xfrm>
            <a:off x="23861367" y="3817208"/>
            <a:ext cx="8646764" cy="54765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square" lIns="106656" tIns="106656" rIns="106656" bIns="106656">
            <a:normAutofit/>
          </a:bodyPr>
          <a:lstStyle>
            <a:lvl1pPr>
              <a:lnSpc>
                <a:spcPct val="90000"/>
              </a:lnSpc>
              <a:spcBef>
                <a:spcPts val="3600"/>
              </a:spcBef>
              <a:buFont typeface="Wingdings 2" panose="05020102010507070707" pitchFamily="18" charset="2"/>
              <a:buChar char=""/>
              <a:defRPr sz="1000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90000"/>
              </a:lnSpc>
              <a:spcBef>
                <a:spcPts val="1800"/>
              </a:spcBef>
              <a:buFont typeface="Wingdings 2" panose="05020102010507070707" pitchFamily="18" charset="2"/>
              <a:buChar char=""/>
              <a:defRPr sz="860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1800"/>
              </a:spcBef>
              <a:buFont typeface="Wingdings 2" panose="05020102010507070707" pitchFamily="18" charset="2"/>
              <a:buChar char=""/>
              <a:defRPr sz="720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1800"/>
              </a:spcBef>
              <a:buFont typeface="Wingdings 2" panose="05020102010507070707" pitchFamily="18" charset="2"/>
              <a:buChar char=""/>
              <a:defRPr sz="640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1800"/>
              </a:spcBef>
              <a:buFont typeface="Wingdings 2" panose="05020102010507070707" pitchFamily="18" charset="2"/>
              <a:buChar char=""/>
              <a:defRPr sz="640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640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640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640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640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619348" y="13738922"/>
            <a:ext cx="9144000" cy="7871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328" tIns="26664" rIns="53328" bIns="26664" anchor="ctr"/>
          <a:lstStyle/>
          <a:p>
            <a:pPr algn="ctr" eaLnBrk="1" hangingPunct="1">
              <a:defRPr/>
            </a:pPr>
            <a:r>
              <a: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Methods</a:t>
            </a:r>
            <a:endParaRPr lang="en-US" sz="4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" name="Text Box 190"/>
          <p:cNvSpPr txBox="1">
            <a:spLocks noChangeArrowheads="1"/>
          </p:cNvSpPr>
          <p:nvPr/>
        </p:nvSpPr>
        <p:spPr bwMode="auto">
          <a:xfrm>
            <a:off x="619348" y="14526092"/>
            <a:ext cx="9144000" cy="718909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txBody>
          <a:bodyPr wrap="square" lIns="106656" tIns="106656" rIns="106656" bIns="106656" anchor="t">
            <a:norm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800"/>
              </a:spcAft>
              <a:defRPr/>
            </a:pPr>
            <a:r>
              <a:rPr lang="en-US" sz="26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/>
              </a:rPr>
              <a:t>Data Collection</a:t>
            </a:r>
            <a:endParaRPr lang="en-US" sz="2600" b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/>
            </a:endParaRPr>
          </a:p>
          <a:p>
            <a:pPr eaLnBrk="1" hangingPunct="1">
              <a:spcAft>
                <a:spcPts val="800"/>
              </a:spcAft>
              <a:defRPr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/>
              </a:rPr>
              <a:t>Database extractes from redCap </a:t>
            </a:r>
            <a:endParaRPr lang="en-US" sz="2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/>
            </a:endParaRPr>
          </a:p>
          <a:p>
            <a:pPr eaLnBrk="1" hangingPunct="1">
              <a:spcAft>
                <a:spcPts val="800"/>
              </a:spcAft>
              <a:defRPr/>
            </a:pPr>
            <a:r>
              <a:rPr lang="en-US" sz="26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/>
              </a:rPr>
              <a:t>Analysis</a:t>
            </a:r>
            <a:endParaRPr lang="en-US" sz="2600" b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/>
            </a:endParaRPr>
          </a:p>
          <a:p>
            <a:pPr marL="876300" lvl="1" eaLnBrk="1" hangingPunct="1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/>
            </a:endParaRPr>
          </a:p>
          <a:p>
            <a:pPr marL="876300" lvl="1" eaLnBrk="1" hangingPunct="1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/>
            </a:endParaRPr>
          </a:p>
          <a:p>
            <a:pPr marL="381000" indent="-381000" eaLnBrk="1" hangingPunct="1">
              <a:spcAft>
                <a:spcPts val="8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/>
            </a:endParaRPr>
          </a:p>
          <a:p>
            <a:pPr eaLnBrk="1" hangingPunct="1">
              <a:spcAft>
                <a:spcPts val="8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/>
            </a:endParaRPr>
          </a:p>
          <a:p>
            <a:pPr eaLnBrk="1" hangingPunct="1">
              <a:defRPr/>
            </a:pPr>
            <a:endParaRPr lang="en-US" sz="2400" dirty="0">
              <a:latin typeface="Calibri Light" panose="020F0302020204030204"/>
              <a:cs typeface="Arial" panose="020B0604020202020204"/>
            </a:endParaRPr>
          </a:p>
          <a:p>
            <a:pPr eaLnBrk="1" hangingPunct="1">
              <a:defRPr/>
            </a:pPr>
            <a:endParaRPr lang="en-US" sz="2400" dirty="0">
              <a:latin typeface="Calibri Light" panose="020F0302020204030204"/>
              <a:cs typeface="Arial" panose="020B0604020202020204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1963706" y="19869137"/>
            <a:ext cx="9473185" cy="1901597"/>
            <a:chOff x="17145762" y="25819612"/>
            <a:chExt cx="14305167" cy="2048089"/>
          </a:xfrm>
        </p:grpSpPr>
        <p:sp>
          <p:nvSpPr>
            <p:cNvPr id="36" name="Text Box 193"/>
            <p:cNvSpPr txBox="1">
              <a:spLocks noChangeArrowheads="1"/>
            </p:cNvSpPr>
            <p:nvPr/>
          </p:nvSpPr>
          <p:spPr bwMode="auto">
            <a:xfrm>
              <a:off x="17145762" y="26386231"/>
              <a:ext cx="14305166" cy="14814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square" lIns="106656" tIns="106656" rIns="106656" bIns="106656">
              <a:normAutofit/>
            </a:bodyPr>
            <a:lstStyle>
              <a:lvl1pPr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just"/>
              <a:endParaRPr lang="en-US" altLang="en-US" sz="2135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just" eaLnBrk="1" hangingPunct="1"/>
              <a:endParaRPr lang="en-US" altLang="en-US" sz="2135" dirty="0">
                <a:latin typeface="Calibri" panose="020F0502020204030204" charset="0"/>
              </a:endParaRPr>
            </a:p>
            <a:p>
              <a:pPr algn="just" eaLnBrk="1" hangingPunct="1"/>
              <a:r>
                <a:rPr lang="en-US" altLang="en-US" sz="2135" dirty="0">
                  <a:latin typeface="Calibri" panose="020F0502020204030204" charset="0"/>
                </a:rPr>
                <a:t> </a:t>
              </a:r>
              <a:endParaRPr lang="en-US" altLang="en-US" sz="2400" dirty="0">
                <a:latin typeface="Calibri" panose="020F0502020204030204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7145763" y="25819612"/>
              <a:ext cx="14305166" cy="76161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3328" tIns="26664" rIns="53328" bIns="26664" anchor="ctr"/>
            <a:lstStyle/>
            <a:p>
              <a:pPr algn="ctr" eaLnBrk="1" hangingPunct="1">
                <a:defRPr/>
              </a:pPr>
              <a:r>
                <a:rPr lang="en-US" sz="40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Acknowledgements</a:t>
              </a:r>
              <a:endPara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55" name="Group 82"/>
          <p:cNvGrpSpPr/>
          <p:nvPr/>
        </p:nvGrpSpPr>
        <p:grpSpPr bwMode="auto">
          <a:xfrm>
            <a:off x="593663" y="9301481"/>
            <a:ext cx="9144000" cy="4074928"/>
            <a:chOff x="17366475" y="8130361"/>
            <a:chExt cx="13699536" cy="28200599"/>
          </a:xfrm>
        </p:grpSpPr>
        <p:sp>
          <p:nvSpPr>
            <p:cNvPr id="56" name="Text Box 189"/>
            <p:cNvSpPr txBox="1">
              <a:spLocks noChangeArrowheads="1"/>
            </p:cNvSpPr>
            <p:nvPr/>
          </p:nvSpPr>
          <p:spPr bwMode="auto">
            <a:xfrm>
              <a:off x="17366475" y="13017389"/>
              <a:ext cx="13699536" cy="233135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lIns="106656" tIns="106656" rIns="106656" bIns="106656">
              <a:noAutofit/>
            </a:bodyPr>
            <a:lstStyle>
              <a:lvl1pPr>
                <a:lnSpc>
                  <a:spcPct val="90000"/>
                </a:lnSpc>
                <a:spcBef>
                  <a:spcPts val="3600"/>
                </a:spcBef>
                <a:buFont typeface="Wingdings 2" panose="05020102010507070707" pitchFamily="18" charset="2"/>
                <a:buChar char=""/>
                <a:defRPr sz="10000">
                  <a:solidFill>
                    <a:schemeClr val="tx1"/>
                  </a:solidFill>
                  <a:latin typeface="Calibri" panose="020F050202020403020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90000"/>
                </a:lnSpc>
                <a:spcBef>
                  <a:spcPts val="1800"/>
                </a:spcBef>
                <a:buFont typeface="Wingdings 2" panose="05020102010507070707" pitchFamily="18" charset="2"/>
                <a:buChar char=""/>
                <a:defRPr sz="8600">
                  <a:solidFill>
                    <a:schemeClr val="tx1"/>
                  </a:solidFill>
                  <a:latin typeface="Calibri" panose="020F050202020403020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90000"/>
                </a:lnSpc>
                <a:spcBef>
                  <a:spcPts val="1800"/>
                </a:spcBef>
                <a:buFont typeface="Wingdings 2" panose="05020102010507070707" pitchFamily="18" charset="2"/>
                <a:buChar char=""/>
                <a:defRPr sz="7200">
                  <a:solidFill>
                    <a:schemeClr val="tx1"/>
                  </a:solidFill>
                  <a:latin typeface="Calibri" panose="020F050202020403020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90000"/>
                </a:lnSpc>
                <a:spcBef>
                  <a:spcPts val="1800"/>
                </a:spcBef>
                <a:buFont typeface="Wingdings 2" panose="05020102010507070707" pitchFamily="18" charset="2"/>
                <a:buChar char=""/>
                <a:defRPr sz="6400">
                  <a:solidFill>
                    <a:schemeClr val="tx1"/>
                  </a:solidFill>
                  <a:latin typeface="Calibri" panose="020F050202020403020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90000"/>
                </a:lnSpc>
                <a:spcBef>
                  <a:spcPts val="1800"/>
                </a:spcBef>
                <a:buFont typeface="Wingdings 2" panose="05020102010507070707" pitchFamily="18" charset="2"/>
                <a:buChar char=""/>
                <a:defRPr sz="6400">
                  <a:solidFill>
                    <a:schemeClr val="tx1"/>
                  </a:solidFill>
                  <a:latin typeface="Calibri" panose="020F050202020403020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1800"/>
                </a:spcBef>
                <a:spcAft>
                  <a:spcPct val="0"/>
                </a:spcAft>
                <a:buFont typeface="Wingdings 2" panose="05020102010507070707" pitchFamily="18" charset="2"/>
                <a:buChar char=""/>
                <a:defRPr sz="6400">
                  <a:solidFill>
                    <a:schemeClr val="tx1"/>
                  </a:solidFill>
                  <a:latin typeface="Calibri" panose="020F050202020403020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1800"/>
                </a:spcBef>
                <a:spcAft>
                  <a:spcPct val="0"/>
                </a:spcAft>
                <a:buFont typeface="Wingdings 2" panose="05020102010507070707" pitchFamily="18" charset="2"/>
                <a:buChar char=""/>
                <a:defRPr sz="6400">
                  <a:solidFill>
                    <a:schemeClr val="tx1"/>
                  </a:solidFill>
                  <a:latin typeface="Calibri" panose="020F050202020403020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1800"/>
                </a:spcBef>
                <a:spcAft>
                  <a:spcPct val="0"/>
                </a:spcAft>
                <a:buFont typeface="Wingdings 2" panose="05020102010507070707" pitchFamily="18" charset="2"/>
                <a:buChar char=""/>
                <a:defRPr sz="6400">
                  <a:solidFill>
                    <a:schemeClr val="tx1"/>
                  </a:solidFill>
                  <a:latin typeface="Calibri" panose="020F050202020403020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1800"/>
                </a:spcBef>
                <a:spcAft>
                  <a:spcPct val="0"/>
                </a:spcAft>
                <a:buFont typeface="Wingdings 2" panose="05020102010507070707" pitchFamily="18" charset="2"/>
                <a:buChar char=""/>
                <a:defRPr sz="6400">
                  <a:solidFill>
                    <a:schemeClr val="tx1"/>
                  </a:solidFill>
                  <a:latin typeface="Calibri" panose="020F0502020204030204" charset="0"/>
                  <a:ea typeface="MS PGothic" panose="020B0600070205080204" pitchFamily="34" charset="-128"/>
                </a:defRPr>
              </a:lvl9pPr>
            </a:lstStyle>
            <a:p>
              <a:pPr marL="876300" lvl="1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</a:pPr>
              <a:r>
                <a:rPr lang="en-US" altLang="en-US" sz="2400" dirty="0">
                  <a:latin typeface="Verdana" panose="020B0604030504040204" pitchFamily="34" charset="0"/>
                  <a:ea typeface="Verdana" panose="020B0604030504040204" pitchFamily="34" charset="0"/>
                </a:rPr>
                <a:t>N = 357 total participants:</a:t>
              </a:r>
              <a:endParaRPr lang="en-US" altLang="en-US" sz="2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876300" lvl="1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</a:pPr>
              <a:r>
                <a:rPr lang="en-US" altLang="en-US" sz="2400" dirty="0">
                  <a:latin typeface="Verdana" panose="020B0604030504040204" pitchFamily="34" charset="0"/>
                  <a:ea typeface="Verdana" panose="020B0604030504040204" pitchFamily="34" charset="0"/>
                </a:rPr>
                <a:t>277 records with recruitment call</a:t>
              </a:r>
              <a:endParaRPr lang="en-US" altLang="en-US" sz="2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876300" lvl="1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</a:pPr>
              <a:r>
                <a:rPr lang="en-US" altLang="en-US" sz="2400" dirty="0">
                  <a:latin typeface="Verdana" panose="020B0604030504040204" pitchFamily="34" charset="0"/>
                  <a:ea typeface="Verdana" panose="020B0604030504040204" pitchFamily="34" charset="0"/>
                </a:rPr>
                <a:t>59 participants has extra reach out such as text, email</a:t>
              </a:r>
              <a:endParaRPr lang="en-US" altLang="en-US" sz="2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876300" lvl="1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</a:pPr>
              <a:r>
                <a:rPr lang="en-US" altLang="en-US" sz="2400" dirty="0">
                  <a:latin typeface="Verdana" panose="020B0604030504040204" pitchFamily="34" charset="0"/>
                  <a:ea typeface="Verdana" panose="020B0604030504040204" pitchFamily="34" charset="0"/>
                </a:rPr>
                <a:t>11 records has no welcoming nor recruiting information</a:t>
              </a:r>
              <a:endParaRPr lang="en-US" altLang="en-US" sz="2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876300" lvl="1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</a:pPr>
              <a:endParaRPr lang="en-US" altLang="en-US" sz="2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7366475" y="8130361"/>
              <a:ext cx="13699535" cy="48870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3328" tIns="26664" rIns="53328" bIns="26664" anchor="ctr">
              <a:noAutofit/>
            </a:bodyPr>
            <a:lstStyle/>
            <a:p>
              <a:pPr algn="ctr" eaLnBrk="1" hangingPunct="1">
                <a:defRPr/>
              </a:pPr>
              <a:r>
                <a:rPr lang="en-US" altLang="en-US" sz="4000" b="1" dirty="0">
                  <a:solidFill>
                    <a:srgbClr val="FFFFFF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Participants</a:t>
              </a:r>
              <a:endPara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23867208" y="14051495"/>
            <a:ext cx="8644128" cy="1251034"/>
            <a:chOff x="17313754" y="25639821"/>
            <a:chExt cx="13720145" cy="2132237"/>
          </a:xfrm>
        </p:grpSpPr>
        <p:sp>
          <p:nvSpPr>
            <p:cNvPr id="85" name="Text Box 193"/>
            <p:cNvSpPr txBox="1">
              <a:spLocks noChangeArrowheads="1"/>
            </p:cNvSpPr>
            <p:nvPr/>
          </p:nvSpPr>
          <p:spPr bwMode="auto">
            <a:xfrm>
              <a:off x="17315246" y="26781771"/>
              <a:ext cx="13718653" cy="99028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square" lIns="106656" tIns="106656" rIns="106656" bIns="106656">
              <a:spAutoFit/>
            </a:bodyPr>
            <a:lstStyle>
              <a:lvl1pPr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424180" lvl="1">
                <a:spcAft>
                  <a:spcPts val="800"/>
                </a:spcAft>
                <a:buFont typeface="Arial" panose="020B0604020202020204" pitchFamily="34" charset="0"/>
                <a:buChar char="•"/>
                <a:defRPr/>
              </a:pPr>
              <a:endParaRPr lang="en-US" altLang="en-US" sz="2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6" name="Rectangle 85"/>
            <p:cNvSpPr/>
            <p:nvPr/>
          </p:nvSpPr>
          <p:spPr bwMode="auto">
            <a:xfrm>
              <a:off x="17313754" y="25639821"/>
              <a:ext cx="13720145" cy="12052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3328" tIns="26664" rIns="53328" bIns="26664" anchor="ctr"/>
            <a:lstStyle/>
            <a:p>
              <a:pPr algn="ctr" eaLnBrk="1" hangingPunct="1">
                <a:defRPr/>
              </a:pPr>
              <a:r>
                <a:rPr lang="en-US" sz="40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Conclusions &amp; Discussion</a:t>
              </a:r>
              <a:endPara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Rectangle 5"/>
          <p:cNvSpPr/>
          <p:nvPr/>
        </p:nvSpPr>
        <p:spPr bwMode="auto">
          <a:xfrm>
            <a:off x="23865355" y="20108463"/>
            <a:ext cx="8644128" cy="70713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328" tIns="26664" rIns="53328" bIns="26664" anchor="ctr"/>
          <a:lstStyle/>
          <a:p>
            <a:pPr algn="ctr" eaLnBrk="1" hangingPunct="1">
              <a:defRPr/>
            </a:pPr>
            <a:r>
              <a: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References</a:t>
            </a:r>
            <a:endParaRPr lang="en-US" sz="4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 Box 193"/>
          <p:cNvSpPr txBox="1">
            <a:spLocks noChangeArrowheads="1"/>
          </p:cNvSpPr>
          <p:nvPr/>
        </p:nvSpPr>
        <p:spPr bwMode="auto">
          <a:xfrm>
            <a:off x="23868557" y="20815599"/>
            <a:ext cx="8642781" cy="8535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square" lIns="106656" tIns="106656" rIns="106656" bIns="106656">
            <a:noAutofit/>
          </a:bodyPr>
          <a:lstStyle>
            <a:lvl1pPr>
              <a:defRPr sz="8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8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8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8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8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indent="-304800"/>
            <a:endParaRPr lang="en-US" altLang="en-US" sz="1465" dirty="0">
              <a:latin typeface="Calibri" panose="020F0502020204030204" charset="0"/>
            </a:endParaRPr>
          </a:p>
        </p:txBody>
      </p:sp>
      <p:pic>
        <p:nvPicPr>
          <p:cNvPr id="51" name="Picture 50" descr="A logo with a dog and a comma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6022" y="20500184"/>
            <a:ext cx="1375507" cy="1375507"/>
          </a:xfrm>
          <a:prstGeom prst="rect">
            <a:avLst/>
          </a:prstGeom>
        </p:spPr>
      </p:pic>
      <p:grpSp>
        <p:nvGrpSpPr>
          <p:cNvPr id="105" name="Group 99"/>
          <p:cNvGrpSpPr/>
          <p:nvPr/>
        </p:nvGrpSpPr>
        <p:grpSpPr bwMode="auto">
          <a:xfrm>
            <a:off x="622761" y="3239584"/>
            <a:ext cx="9144000" cy="1670878"/>
            <a:chOff x="669403" y="7361799"/>
            <a:chExt cx="13716000" cy="5666856"/>
          </a:xfrm>
          <a:solidFill>
            <a:srgbClr val="015FC3"/>
          </a:solidFill>
        </p:grpSpPr>
        <p:sp>
          <p:nvSpPr>
            <p:cNvPr id="106" name="Text Box 190"/>
            <p:cNvSpPr txBox="1">
              <a:spLocks noChangeArrowheads="1"/>
            </p:cNvSpPr>
            <p:nvPr/>
          </p:nvSpPr>
          <p:spPr bwMode="auto">
            <a:xfrm>
              <a:off x="669403" y="9457936"/>
              <a:ext cx="13716000" cy="35707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txBody>
            <a:bodyPr lIns="106656" tIns="106656" rIns="106656" bIns="106656" anchor="t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Aft>
                  <a:spcPts val="800"/>
                </a:spcAft>
                <a:defRPr/>
              </a:pPr>
              <a:r>
                <a: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Calibri Light" panose="020F0302020204030204"/>
                </a:rPr>
                <a:t>Hypothesis:</a:t>
              </a:r>
              <a:endParaRPr lang="en-US" sz="2400" dirty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/>
              </a:endParaRPr>
            </a:p>
            <a:p>
              <a:pPr eaLnBrk="1" hangingPunct="1">
                <a:spcAft>
                  <a:spcPts val="800"/>
                </a:spcAft>
                <a:defRPr/>
              </a:pPr>
              <a:endParaRPr lang="en-US" sz="2400" dirty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/>
              </a:endParaRPr>
            </a:p>
          </p:txBody>
        </p:sp>
        <p:sp>
          <p:nvSpPr>
            <p:cNvPr id="107" name="Rectangle 14"/>
            <p:cNvSpPr/>
            <p:nvPr/>
          </p:nvSpPr>
          <p:spPr>
            <a:xfrm>
              <a:off x="669403" y="7361799"/>
              <a:ext cx="13716000" cy="23949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3328" tIns="26664" rIns="53328" bIns="26664" anchor="ctr"/>
            <a:lstStyle/>
            <a:p>
              <a:pPr algn="ctr" eaLnBrk="1" hangingPunct="1">
                <a:defRPr/>
              </a:pPr>
              <a:r>
                <a:rPr lang="en-US" sz="40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Background</a:t>
              </a:r>
              <a:endPara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WPS Slides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Verdana</vt:lpstr>
      <vt:lpstr>Wingdings 2</vt:lpstr>
      <vt:lpstr>Calibri</vt:lpstr>
      <vt:lpstr>MS PGothic</vt:lpstr>
      <vt:lpstr>Arial</vt:lpstr>
      <vt:lpstr>Cambria</vt:lpstr>
      <vt:lpstr>Calibri Light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Chi Thieu</cp:lastModifiedBy>
  <cp:revision>4</cp:revision>
  <dcterms:created xsi:type="dcterms:W3CDTF">2025-04-23T19:35:00Z</dcterms:created>
  <dcterms:modified xsi:type="dcterms:W3CDTF">2025-05-05T17:00:01Z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34448FF62A9B4251B20C24D8ABE4DDBB_11</vt:lpwstr>
  </property>
  <property fmtid="{D5CDD505-2E9C-101B-9397-08002B2CF9AE}" pid="3" name="KSOProductBuildVer">
    <vt:lpwstr>1033-12.2.0.20795</vt:lpwstr>
  </property>
</Properties>
</file>